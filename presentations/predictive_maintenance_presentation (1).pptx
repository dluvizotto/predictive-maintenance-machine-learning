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/WXIpFAD/EKMhUVgRHSO1cVrV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C7EBCA-0B86-4416-80CD-3343089DE982}">
  <a:tblStyle styleId="{11C7EBCA-0B86-4416-80CD-3343089DE98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F1-Score Comparison (Binary: Machine Failure)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(class 1)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LR Baseline</c:v>
                  </c:pt>
                  <c:pt idx="1">
                    <c:v>LR Balanced</c:v>
                  </c:pt>
                  <c:pt idx="2">
                    <c:v>LR Optimized</c:v>
                  </c:pt>
                  <c:pt idx="3">
                    <c:v>RFC Baseline</c:v>
                  </c:pt>
                  <c:pt idx="4">
                    <c:v>RFC Optimized</c:v>
                  </c:pt>
                  <c:pt idx="5">
                    <c:v>RFC Reduced ★</c:v>
                  </c:pt>
                  <c:pt idx="6">
                    <c:v>XGBoost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0.32</c:v>
                </c:pt>
                <c:pt idx="1">
                  <c:v>0.3</c:v>
                </c:pt>
                <c:pt idx="2">
                  <c:v>0.54</c:v>
                </c:pt>
                <c:pt idx="3">
                  <c:v>0.78</c:v>
                </c:pt>
                <c:pt idx="4">
                  <c:v>0.85</c:v>
                </c:pt>
                <c:pt idx="5">
                  <c:v>0.851</c:v>
                </c:pt>
                <c:pt idx="6">
                  <c:v>0.838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5fdd4760d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95fdd4760d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95fdd4760d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5fdd4760d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95fdd4760d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95fdd4760d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95fdd4760d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95fdd4760d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95fdd4760d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5fdd4760d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95fdd4760d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95fdd4760d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95fdd4760d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95fdd4760d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95fdd4760d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0"/>
            <a:ext cx="457200" cy="51435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554480" y="0"/>
            <a:ext cx="457200" cy="51435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2651760" y="0"/>
            <a:ext cx="457200" cy="51435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749040" y="0"/>
            <a:ext cx="457200" cy="51435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846320" y="0"/>
            <a:ext cx="457200" cy="51435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943600" y="0"/>
            <a:ext cx="457200" cy="51435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040880" y="0"/>
            <a:ext cx="457200" cy="51435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138160" y="0"/>
            <a:ext cx="457200" cy="5143500"/>
          </a:xfrm>
          <a:prstGeom prst="rect">
            <a:avLst/>
          </a:prstGeom>
          <a:solidFill>
            <a:srgbClr val="FFFFFF">
              <a:alpha val="3921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>
            <a:off x="7132320" y="27432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Predictive Maintenance Report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Multilabel Failure Classification with Machine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57200" y="2331720"/>
            <a:ext cx="5029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AI4I 2020 Predictive Maintenance Dataset  ·  UCI Machine Learning Repository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49425" y="4001000"/>
            <a:ext cx="4754100" cy="538200"/>
          </a:xfrm>
          <a:prstGeom prst="rect">
            <a:avLst/>
          </a:prstGeom>
          <a:solidFill>
            <a:srgbClr val="0D9488">
              <a:alpha val="30196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Danilo Luvizotto Gonçalves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13/03/2026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685800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5760" y="685800"/>
            <a:ext cx="50292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65760" y="68580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60120" y="85039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60125" y="1234453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Why predictive maintenance matters;</a:t>
            </a:r>
            <a:endParaRPr b="0" i="0" sz="1000" u="none" cap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Current state analysis</a:t>
            </a:r>
            <a:endParaRPr sz="1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5760" y="1965960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65760" y="1965960"/>
            <a:ext cx="50292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365760" y="196596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60120" y="213055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60120" y="251460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AI4I 2020 · 10k samples · 5 failure types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5760" y="3246120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65760" y="3246120"/>
            <a:ext cx="50292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65760" y="324612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60120" y="341071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60120" y="379476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Pipeline, class imbalance &amp; CV 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800600" y="685800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800600" y="685800"/>
            <a:ext cx="50292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800600" y="68580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394960" y="85039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Results &amp; Comparison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394960" y="123444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Logistic Regression vs Random Forest vs XGBoost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800600" y="1965960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800600" y="1965960"/>
            <a:ext cx="50292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800600" y="196596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394960" y="213055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394960" y="251460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SHAP-based feature importance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800600" y="3246120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800600" y="3246120"/>
            <a:ext cx="50292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800600" y="324612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394960" y="341071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394960" y="379476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Summary &amp; next 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·  Business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20040" y="68580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20040" y="685800"/>
            <a:ext cx="26517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320040" y="8686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$50B+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20040" y="1627632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Annual cost of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unplanned downtime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(manufacturing, global)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172968" y="68580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172968" y="685800"/>
            <a:ext cx="265176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172968" y="8686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30–40%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172968" y="1627632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Cost reduction with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predictive vs. reactive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025896" y="685800"/>
            <a:ext cx="26517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025896" y="685800"/>
            <a:ext cx="26517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025896" y="8686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~97%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025896" y="1627632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Operational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is failure-free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(rare event challenge)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20040" y="2788920"/>
            <a:ext cx="8503920" cy="16916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48640" y="288036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48640" y="324612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Industrial equipment fails in multiple, simultaneous ways. 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Each failure type (tool wear, heat dissipation, power failure, overstrain, random) requires a distinct maintenance action. Traditional binary alarms miss this granularity — and extreme class imbalance (~1–3% failure rate per type) makes the problem technically demanding.</a:t>
            </a:r>
            <a:endParaRPr b="0" i="0" sz="1100" u="none" cap="none" strike="noStrike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To maintain business competitivity, our industry need a solution that handles these failures with precision, to minimize costs.</a:t>
            </a:r>
            <a:endParaRPr sz="11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·  Dataset Overview  —  AI4I 2020 (UCI)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20040" y="685800"/>
            <a:ext cx="21031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20040" y="685800"/>
            <a:ext cx="73152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02920" y="68580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10,000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02920" y="108813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20040" y="1691640"/>
            <a:ext cx="21031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20040" y="1691640"/>
            <a:ext cx="73152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502920" y="169164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 predictors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02920" y="20939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20040" y="2697480"/>
            <a:ext cx="21031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320040" y="2697480"/>
            <a:ext cx="73152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502920" y="269748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 failure types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02920" y="309981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Target labels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20040" y="3703320"/>
            <a:ext cx="21031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320040" y="3703320"/>
            <a:ext cx="73152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02920" y="370332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≈ 1% per type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02920" y="41056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Positive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606040" y="685800"/>
            <a:ext cx="301752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743200" y="7772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Input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743200" y="1234440"/>
            <a:ext cx="2743200" cy="402336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834640" y="1234440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Air temperature [K]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743200" y="1728216"/>
            <a:ext cx="27432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2834640" y="1728216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Process temperature [K]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743200" y="2221992"/>
            <a:ext cx="2743200" cy="402336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834640" y="222199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Rotational speed [rpm]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743200" y="2715768"/>
            <a:ext cx="27432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2834640" y="2715768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Torque [Nm]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743200" y="3209544"/>
            <a:ext cx="2743200" cy="402336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2834640" y="3209544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 wear [min]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743200" y="3703320"/>
            <a:ext cx="274320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2834640" y="3703320"/>
            <a:ext cx="2651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type  (L / M / 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806440" y="685800"/>
            <a:ext cx="301752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943600" y="7772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Failure Type Distribution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4" title="Failure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047" y="1160515"/>
            <a:ext cx="2945398" cy="223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5989275" y="3372196"/>
            <a:ext cx="2651700" cy="11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Failure Types: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Overstrain Failure (OSF)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Power Failure (PWF)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Heat Dissipation Failure (HDF)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 Wear Failure (TWF)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Random Failure (RNF)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·  Methodology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74320" y="685800"/>
            <a:ext cx="1298448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74320" y="685800"/>
            <a:ext cx="129844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" y="8412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320040" y="1371600"/>
            <a:ext cx="12070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Ingestion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20040" y="1901952"/>
            <a:ext cx="12070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AI4I 2020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UCI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572768" y="1764792"/>
            <a:ext cx="14630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664208" y="1673352"/>
            <a:ext cx="1645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737360" y="685800"/>
            <a:ext cx="1298448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1737360" y="685800"/>
            <a:ext cx="129844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7984" y="8412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1783080" y="1371600"/>
            <a:ext cx="12070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EDA &amp;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783080" y="1901952"/>
            <a:ext cx="12070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Scaling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Encoding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035808" y="1764792"/>
            <a:ext cx="14630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3127248" y="1673352"/>
            <a:ext cx="1645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200400" y="685800"/>
            <a:ext cx="1298448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3200400" y="685800"/>
            <a:ext cx="129844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21024" y="8412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/>
          <p:nvPr/>
        </p:nvSpPr>
        <p:spPr>
          <a:xfrm>
            <a:off x="3246120" y="1371600"/>
            <a:ext cx="12070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Imbalance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Handling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246120" y="1901952"/>
            <a:ext cx="12070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RandomOver-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Sampler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498848" y="1764792"/>
            <a:ext cx="14630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4590288" y="1673352"/>
            <a:ext cx="1645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663440" y="685800"/>
            <a:ext cx="1298448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663440" y="685800"/>
            <a:ext cx="129844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84064" y="8412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/>
          <p:nvPr/>
        </p:nvSpPr>
        <p:spPr>
          <a:xfrm>
            <a:off x="4709160" y="1371600"/>
            <a:ext cx="12070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Hyperparameter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Tuning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709160" y="1901952"/>
            <a:ext cx="12070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Optuna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961888" y="1764792"/>
            <a:ext cx="14630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053328" y="1673352"/>
            <a:ext cx="1645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126480" y="685800"/>
            <a:ext cx="1298448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126480" y="685800"/>
            <a:ext cx="129844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7104" y="8412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/>
          <p:nvPr/>
        </p:nvSpPr>
        <p:spPr>
          <a:xfrm>
            <a:off x="6172200" y="1371600"/>
            <a:ext cx="12070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172200" y="1901952"/>
            <a:ext cx="12070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Binary Testing:</a:t>
            </a:r>
            <a:endParaRPr sz="8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ogistic Regression</a:t>
            </a:r>
            <a:endParaRPr sz="8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Random Forests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850" u="none" cap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Multilabel Testing:</a:t>
            </a:r>
            <a:endParaRPr sz="8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Random Forests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8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7424928" y="1764792"/>
            <a:ext cx="14630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7516368" y="1673352"/>
            <a:ext cx="1645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589520" y="685800"/>
            <a:ext cx="1298448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7589520" y="685800"/>
            <a:ext cx="129844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10144" y="8412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/>
          <p:nvPr/>
        </p:nvSpPr>
        <p:spPr>
          <a:xfrm>
            <a:off x="7635240" y="1371600"/>
            <a:ext cx="12070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635240" y="1901952"/>
            <a:ext cx="120700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AUC-PR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MCC · F1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274320" y="3108960"/>
            <a:ext cx="85953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274320" y="3108960"/>
            <a:ext cx="8595360" cy="548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Design Decisions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02920" y="363931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Oversampling applied INSIDE each CV fold to prevent data leakage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502920" y="4078224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Stratified K-Fold (k=5) with multilabel compatible splitting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800600" y="363931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Optuna optimizes </a:t>
            </a: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MCC</a:t>
            </a: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as objective — robust to severe imbalance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800600" y="4078224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Feature Engineering for model simplification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5fdd4760d_0_46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95fdd4760d_0_46"/>
          <p:cNvSpPr/>
          <p:nvPr/>
        </p:nvSpPr>
        <p:spPr>
          <a:xfrm>
            <a:off x="0" y="502920"/>
            <a:ext cx="91440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95fdd4760d_0_46"/>
          <p:cNvSpPr/>
          <p:nvPr/>
        </p:nvSpPr>
        <p:spPr>
          <a:xfrm>
            <a:off x="365760" y="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Visualization - Preliminary Insights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g395fdd4760d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9050"/>
            <a:ext cx="3521777" cy="223032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9" name="Google Shape;199;g395fdd4760d_0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73545"/>
            <a:ext cx="3521777" cy="19827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0" name="Google Shape;200;g395fdd4760d_0_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0267" y="635711"/>
            <a:ext cx="3927537" cy="223031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1" name="Google Shape;201;g395fdd4760d_0_46"/>
          <p:cNvSpPr/>
          <p:nvPr/>
        </p:nvSpPr>
        <p:spPr>
          <a:xfrm>
            <a:off x="3760901" y="2949933"/>
            <a:ext cx="4951500" cy="2020800"/>
          </a:xfrm>
          <a:prstGeom prst="rect">
            <a:avLst/>
          </a:prstGeom>
          <a:solidFill>
            <a:srgbClr val="0D1B2A"/>
          </a:solidFill>
          <a:ln cap="flat" cmpd="sng" w="151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1362" rotWithShape="0" algn="bl" dir="8100000" dist="45511">
              <a:srgbClr val="000000">
                <a:alpha val="12160"/>
              </a:srgbClr>
            </a:outerShdw>
          </a:effectLst>
        </p:spPr>
        <p:txBody>
          <a:bodyPr anchorCtr="0" anchor="ctr" bIns="109200" lIns="109200" spcFirstLastPara="1" rIns="109200" wrap="square" tIns="109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95fdd4760d_0_46"/>
          <p:cNvSpPr/>
          <p:nvPr/>
        </p:nvSpPr>
        <p:spPr>
          <a:xfrm>
            <a:off x="3894002" y="3047626"/>
            <a:ext cx="46851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53"/>
              <a:buFont typeface="Calibri"/>
              <a:buNone/>
            </a:pPr>
            <a:r>
              <a:rPr b="1" lang="en-US" sz="1552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5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95fdd4760d_0_46"/>
          <p:cNvSpPr/>
          <p:nvPr/>
        </p:nvSpPr>
        <p:spPr>
          <a:xfrm>
            <a:off x="3894002" y="3484529"/>
            <a:ext cx="4685100" cy="13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4"/>
              <a:buFont typeface="Calibri"/>
              <a:buNone/>
            </a:pPr>
            <a:r>
              <a:rPr lang="en-US" sz="1313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Some Failure modes showed a clear pattern (OSF, PWF and HDF) in the preliminary analysis, indicating that our models were more likely to </a:t>
            </a:r>
            <a:r>
              <a:rPr lang="en-US" sz="1313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correctly</a:t>
            </a:r>
            <a:r>
              <a:rPr lang="en-US" sz="1313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predict them, while TWF and RNF patterns were not clearly seen through the plots made. That indeed reflected into poorer performance in predicting these kind of failures. </a:t>
            </a:r>
            <a:endParaRPr sz="1313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Results &amp; Model Comparison - B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nary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20040" y="621792"/>
            <a:ext cx="8503920" cy="7132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502920" y="621792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🏆  Best Model (Binary):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RFC_Reduced + Optuna  </a:t>
            </a:r>
            <a:r>
              <a:rPr b="0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·  F1 = 0.851  ·  MCC (CV) = 0.796  ·  Precision = 0.864  ·  Recall = 0.838</a:t>
            </a:r>
            <a:endParaRPr b="0" i="0" sz="1200" u="none" cap="none" strike="noStrike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57 Correct Failure Predictions out of 68 - 11 false negatives and 9 false positives</a:t>
            </a:r>
            <a:endParaRPr sz="1200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" name="Google Shape;214;p6"/>
          <p:cNvGraphicFramePr/>
          <p:nvPr/>
        </p:nvGraphicFramePr>
        <p:xfrm>
          <a:off x="320040" y="1417320"/>
          <a:ext cx="5303520" cy="32918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15" name="Google Shape;215;p6"/>
          <p:cNvSpPr/>
          <p:nvPr/>
        </p:nvSpPr>
        <p:spPr>
          <a:xfrm>
            <a:off x="5806440" y="1417320"/>
            <a:ext cx="301752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5943600" y="1508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Metrics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6"/>
          <p:cNvGraphicFramePr/>
          <p:nvPr/>
        </p:nvGraphicFramePr>
        <p:xfrm>
          <a:off x="580644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{11C7EBCA-0B86-4416-80CD-3343089DE982}</a:tableStyleId>
              </a:tblPr>
              <a:tblGrid>
                <a:gridCol w="1005850"/>
                <a:gridCol w="1005850"/>
                <a:gridCol w="10058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MCC (CV)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 Baseline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 Optimized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0.459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Baseline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Reduced ★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5fdd4760d_0_18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95fdd4760d_0_18"/>
          <p:cNvSpPr/>
          <p:nvPr/>
        </p:nvSpPr>
        <p:spPr>
          <a:xfrm>
            <a:off x="0" y="502920"/>
            <a:ext cx="9144000" cy="54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95fdd4760d_0_18"/>
          <p:cNvSpPr/>
          <p:nvPr/>
        </p:nvSpPr>
        <p:spPr>
          <a:xfrm>
            <a:off x="365760" y="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Results &amp; Model Comparison - 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Multilabel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95fdd4760d_0_18"/>
          <p:cNvSpPr/>
          <p:nvPr/>
        </p:nvSpPr>
        <p:spPr>
          <a:xfrm>
            <a:off x="320040" y="621792"/>
            <a:ext cx="8503800" cy="713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95fdd4760d_0_18"/>
          <p:cNvSpPr/>
          <p:nvPr/>
        </p:nvSpPr>
        <p:spPr>
          <a:xfrm>
            <a:off x="502920" y="621792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🏆  Best Model (Binary):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RFC_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+ Optuna  </a:t>
            </a:r>
            <a:r>
              <a:rPr b="0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lang="en-US" sz="12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Total correct predictions: 52, out of 73. RNF and TWF are not predicted by our model.  </a:t>
            </a:r>
            <a:r>
              <a:rPr b="1" lang="en-US" u="sng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Considering only HDF, PWR and OSF → 52 out of 62 - 84% of correct predictions (only 2 FP)</a:t>
            </a:r>
            <a:endParaRPr b="1" u="sng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95fdd4760d_0_18"/>
          <p:cNvSpPr/>
          <p:nvPr/>
        </p:nvSpPr>
        <p:spPr>
          <a:xfrm>
            <a:off x="5124915" y="1487295"/>
            <a:ext cx="30174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95fdd4760d_0_18"/>
          <p:cNvSpPr/>
          <p:nvPr/>
        </p:nvSpPr>
        <p:spPr>
          <a:xfrm>
            <a:off x="5262075" y="1578735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Metrics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g395fdd4760d_0_18"/>
          <p:cNvGraphicFramePr/>
          <p:nvPr/>
        </p:nvGraphicFramePr>
        <p:xfrm>
          <a:off x="5124915" y="19444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{11C7EBCA-0B86-4416-80CD-3343089DE982}</a:tableStyleId>
              </a:tblPr>
              <a:tblGrid>
                <a:gridCol w="1005850"/>
                <a:gridCol w="1005850"/>
                <a:gridCol w="10058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Failure type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Detected failures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FN+FP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HDR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0+2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OSF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4+0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PWF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6+0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9+0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4+0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31" name="Google Shape;231;g395fdd4760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50" y="4240242"/>
            <a:ext cx="439102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95fdd4760d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87292"/>
            <a:ext cx="4427964" cy="26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Key Insights  —  SHAP Feature Importance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92250" y="685874"/>
            <a:ext cx="2945700" cy="1098300"/>
          </a:xfrm>
          <a:prstGeom prst="rect">
            <a:avLst/>
          </a:prstGeom>
          <a:solidFill>
            <a:srgbClr val="FFFFFF"/>
          </a:solidFill>
          <a:ln cap="flat" cmpd="sng" w="11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88452" rotWithShape="0" algn="bl" dir="8100000" dist="33170">
              <a:srgbClr val="000000">
                <a:alpha val="12156"/>
              </a:srgbClr>
            </a:outerShdw>
          </a:effectLst>
        </p:spPr>
        <p:txBody>
          <a:bodyPr anchorCtr="0" anchor="ctr" bIns="79600" lIns="79600" spcFirstLastPara="1" rIns="79600" wrap="square" tIns="7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92250" y="685874"/>
            <a:ext cx="79800" cy="1098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79600" lIns="79600" spcFirstLastPara="1" rIns="79600" wrap="square" tIns="7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251464" y="741599"/>
            <a:ext cx="26667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1"/>
              <a:buFont typeface="Calibri"/>
              <a:buNone/>
            </a:pPr>
            <a:r>
              <a:rPr b="1" lang="en-US" sz="100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Rotational Speed</a:t>
            </a:r>
            <a:r>
              <a:rPr b="1" i="0" lang="en-US" sz="1001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#1 predictor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51464" y="1060027"/>
            <a:ext cx="26667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7"/>
              <a:buFont typeface="Calibri"/>
              <a:buNone/>
            </a:pPr>
            <a:r>
              <a:rPr b="0" i="0" lang="en-US" sz="82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SHAP analysis on RFC_Reduced shows </a:t>
            </a:r>
            <a:r>
              <a:rPr lang="en-US" sz="827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Rotational speed</a:t>
            </a:r>
            <a:r>
              <a:rPr b="0" i="0" lang="en-US" sz="82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has the highest mean |SHAP| — </a:t>
            </a:r>
            <a:r>
              <a:rPr lang="en-US" sz="827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Rotational speed</a:t>
            </a:r>
            <a:r>
              <a:rPr b="0" i="0" lang="en-US" sz="82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category drives failure risk more than any sensor reading.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090616" y="685851"/>
            <a:ext cx="2945700" cy="1098300"/>
          </a:xfrm>
          <a:prstGeom prst="rect">
            <a:avLst/>
          </a:prstGeom>
          <a:solidFill>
            <a:srgbClr val="FFFFFF"/>
          </a:solidFill>
          <a:ln cap="flat" cmpd="sng" w="11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88452" rotWithShape="0" algn="bl" dir="8100000" dist="33170">
              <a:srgbClr val="000000">
                <a:alpha val="12156"/>
              </a:srgbClr>
            </a:outerShdw>
          </a:effectLst>
        </p:spPr>
        <p:txBody>
          <a:bodyPr anchorCtr="0" anchor="ctr" bIns="79600" lIns="79600" spcFirstLastPara="1" rIns="79600" wrap="square" tIns="7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3090616" y="685851"/>
            <a:ext cx="79800" cy="1098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79600" lIns="79600" spcFirstLastPara="1" rIns="79600" wrap="square" tIns="7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3249830" y="741575"/>
            <a:ext cx="26667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1"/>
              <a:buFont typeface="Calibri"/>
              <a:buNone/>
            </a:pPr>
            <a:r>
              <a:rPr b="1" i="0" lang="en-US" sz="1001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Torque </a:t>
            </a:r>
            <a:r>
              <a:rPr b="1" lang="en-US" sz="100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&amp; Tool Wear </a:t>
            </a:r>
            <a:r>
              <a:rPr b="1" i="0" lang="en-US" sz="1001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are key sensors as well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249830" y="1060003"/>
            <a:ext cx="26667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7"/>
              <a:buFont typeface="Calibri"/>
              <a:buNone/>
            </a:pPr>
            <a:r>
              <a:rPr lang="en-US" sz="827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82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ool wear 3rd, torque 4th. Together these three mechanical signals capture the bulk of failure risk.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088982" y="685850"/>
            <a:ext cx="2945700" cy="1098300"/>
          </a:xfrm>
          <a:prstGeom prst="rect">
            <a:avLst/>
          </a:prstGeom>
          <a:solidFill>
            <a:srgbClr val="FFFFFF"/>
          </a:solidFill>
          <a:ln cap="flat" cmpd="sng" w="11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88452" rotWithShape="0" algn="bl" dir="8100000" dist="33170">
              <a:srgbClr val="000000">
                <a:alpha val="12156"/>
              </a:srgbClr>
            </a:outerShdw>
          </a:effectLst>
        </p:spPr>
        <p:txBody>
          <a:bodyPr anchorCtr="0" anchor="ctr" bIns="79600" lIns="79600" spcFirstLastPara="1" rIns="79600" wrap="square" tIns="7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6088982" y="685850"/>
            <a:ext cx="79800" cy="10983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79600" lIns="79600" spcFirstLastPara="1" rIns="79600" wrap="square" tIns="7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8"/>
          </a:p>
        </p:txBody>
      </p:sp>
      <p:sp>
        <p:nvSpPr>
          <p:cNvPr id="251" name="Google Shape;251;p7"/>
          <p:cNvSpPr/>
          <p:nvPr/>
        </p:nvSpPr>
        <p:spPr>
          <a:xfrm>
            <a:off x="6248196" y="741575"/>
            <a:ext cx="26667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1"/>
              <a:buFont typeface="Calibri"/>
              <a:buNone/>
            </a:pPr>
            <a:r>
              <a:rPr b="1" i="0" lang="en-US" sz="1001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Engineered Temp_Diff matters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248196" y="1060002"/>
            <a:ext cx="26667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7"/>
              <a:buFont typeface="Calibri"/>
              <a:buNone/>
            </a:pPr>
            <a:r>
              <a:rPr b="0" i="0" lang="en-US" sz="827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engineered feature Temp_Diff (process − air temp) outperforms the raw individual temperatures, confirming its predictive value for heat dissipation failures.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7"/>
          <p:cNvPicPr preferRelativeResize="0"/>
          <p:nvPr/>
        </p:nvPicPr>
        <p:blipFill rotWithShape="1">
          <a:blip r:embed="rId3">
            <a:alphaModFix/>
          </a:blip>
          <a:srcRect b="49774" l="0" r="0" t="0"/>
          <a:stretch/>
        </p:blipFill>
        <p:spPr>
          <a:xfrm>
            <a:off x="92250" y="2160317"/>
            <a:ext cx="8942351" cy="27654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Conclusions &amp; Next Steps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6583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8"/>
          <p:cNvSpPr/>
          <p:nvPr/>
        </p:nvSpPr>
        <p:spPr>
          <a:xfrm>
            <a:off x="841248" y="621792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RFC_Reduced + Optuna achieves F1 = 0.851 and MCC (CV) = 0.796 for binary machine failure, outperforming all baselines</a:t>
            </a:r>
            <a:endParaRPr b="0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57 correct predictions, 9 false positives and 11 false negatives → </a:t>
            </a:r>
            <a:r>
              <a:rPr b="1" lang="en-US" sz="135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74% of total machine downtime would be predictive</a:t>
            </a:r>
            <a:endParaRPr b="1" sz="1350" u="sng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0817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/>
          <p:nvPr/>
        </p:nvSpPr>
        <p:spPr>
          <a:xfrm>
            <a:off x="841248" y="13716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Multilabel RFC_Single correctly identifies 52 of 6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positive cases (2 FP, 10 FN) across 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failure types on the test set</a:t>
            </a:r>
            <a:endParaRPr b="0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25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84% of Power Failures, Heat Dissipation Failures and Overstrain Failures would be held by predictive maintenance</a:t>
            </a:r>
            <a:endParaRPr b="1" sz="1250" u="sng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6" name="Google Shape;2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15798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8"/>
          <p:cNvSpPr/>
          <p:nvPr/>
        </p:nvSpPr>
        <p:spPr>
          <a:xfrm>
            <a:off x="841248" y="212140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Oversampling strictly within CV folds prevents data leakage — imblearn Pipeline ensures unbiased performance estimates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2822747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8"/>
          <p:cNvSpPr/>
          <p:nvPr/>
        </p:nvSpPr>
        <p:spPr>
          <a:xfrm>
            <a:off x="841248" y="2786171"/>
            <a:ext cx="786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TWF and RNF remain hard to detect (recall 0%) — extremely rare events with fewer than 50 test samples require dedicated strategies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65760" y="3703320"/>
            <a:ext cx="8412480" cy="36576"/>
          </a:xfrm>
          <a:prstGeom prst="rect">
            <a:avLst/>
          </a:prstGeom>
          <a:solidFill>
            <a:srgbClr val="0D948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365760" y="38221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· LightGBM integration   · Real-time inference pipeline   · Deep learning baseline (LSTM)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0" y="210312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0" y="3017520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Technical Details  ·  Hyperparameters  ·  Extended Metrics  ·  Cross-Validation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  ·  Optuna Hyperparameter Search Space - Binary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320040" y="685800"/>
            <a:ext cx="269748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320040" y="685800"/>
            <a:ext cx="26974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411480" y="6858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320040" y="1115568"/>
            <a:ext cx="269748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411480" y="111556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 (regularization)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1828800" y="1115568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1e-3 →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20040" y="1645920"/>
            <a:ext cx="26974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411480" y="1645920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Penalty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1828800" y="164592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l1, l2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320040" y="2176272"/>
            <a:ext cx="269748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411480" y="217627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Solver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1828800" y="2176272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liblinear, saga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320040" y="2706624"/>
            <a:ext cx="26974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411480" y="270662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Max iter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1828800" y="2706624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 → 500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3200400" y="685800"/>
            <a:ext cx="269748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3200400" y="685800"/>
            <a:ext cx="26974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3291840" y="6858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3200400" y="1115568"/>
            <a:ext cx="269748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3291840" y="111556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n_estimators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4709160" y="1115568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 → 500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200400" y="1645920"/>
            <a:ext cx="26974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3291840" y="1645920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max_depth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709160" y="164592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→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3200400" y="2176272"/>
            <a:ext cx="269748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3291840" y="217627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min_samples_split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709160" y="2176272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→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3200400" y="2706624"/>
            <a:ext cx="26974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3291840" y="270662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max_features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4709160" y="2706624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sqrt, log2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6080760" y="685800"/>
            <a:ext cx="269748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6080760" y="685800"/>
            <a:ext cx="26974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6172200" y="6858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6080760" y="1115568"/>
            <a:ext cx="269748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6172200" y="111556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n_estimators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7589520" y="1115568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 → 500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080760" y="1645920"/>
            <a:ext cx="26974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6172200" y="1645920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max_depth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7589520" y="164592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→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080760" y="2176272"/>
            <a:ext cx="269748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6172200" y="217627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learning_rate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7589520" y="2176272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0.01 → 0.3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6080760" y="2706624"/>
            <a:ext cx="26974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6172200" y="270662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subsample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7589520" y="2706624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 → 1.0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080760" y="3236976"/>
            <a:ext cx="269748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6172200" y="323697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colsample_bytree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7589520" y="3236976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 → 1.0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080760" y="3767328"/>
            <a:ext cx="26974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6172200" y="376732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scale_pos_weight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7589520" y="3767328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Objective: maximize AUC-PR  ·  50 trials per model per label  ·  Sampler: TPESampler  ·  Pruner: MedianPruner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B  ·  Per-Label Confusion Matrix Summary  —  RFC_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320040" y="4828032"/>
            <a:ext cx="850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Test set results (20% split, 2000 samples). TWF &amp; RNF have very few positive test cases (≤9), making recall 0% despite model detecting some in training. Multilabel Optuna best F1-micro = 0.8863.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11" title="All_models_Single_C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75" y="633975"/>
            <a:ext cx="8441805" cy="411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5fdd4760d_0_8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95fdd4760d_0_8"/>
          <p:cNvSpPr/>
          <p:nvPr/>
        </p:nvSpPr>
        <p:spPr>
          <a:xfrm>
            <a:off x="0" y="502920"/>
            <a:ext cx="9144000" cy="549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95fdd4760d_0_8"/>
          <p:cNvSpPr/>
          <p:nvPr/>
        </p:nvSpPr>
        <p:spPr>
          <a:xfrm>
            <a:off x="365760" y="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B  ·  Per-Label Confusion Matrix Summary  —  RFC_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95fdd4760d_0_8"/>
          <p:cNvSpPr/>
          <p:nvPr/>
        </p:nvSpPr>
        <p:spPr>
          <a:xfrm>
            <a:off x="320040" y="4828032"/>
            <a:ext cx="850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Test set results (20% split, 2000 samples). TWF &amp; RNF have very few positive test cases (≤9), making recall 0% despite model detecting some in training. Multilabel Optuna best F1-micro = 0.8863.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g395fdd4760d_0_8" title="Confusion_matrix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0220"/>
            <a:ext cx="8751258" cy="3965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5fdd4760d_0_37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95fdd4760d_0_37"/>
          <p:cNvSpPr/>
          <p:nvPr/>
        </p:nvSpPr>
        <p:spPr>
          <a:xfrm>
            <a:off x="0" y="502920"/>
            <a:ext cx="9144000" cy="549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95fdd4760d_0_37"/>
          <p:cNvSpPr/>
          <p:nvPr/>
        </p:nvSpPr>
        <p:spPr>
          <a:xfrm>
            <a:off x="365760" y="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B  ·  Per-Label Confusion Matrix Summary  —  RFC_Single (Multilabel)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95fdd4760d_0_37"/>
          <p:cNvSpPr/>
          <p:nvPr/>
        </p:nvSpPr>
        <p:spPr>
          <a:xfrm>
            <a:off x="320040" y="4828032"/>
            <a:ext cx="850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Test set results (20% split, 2000 samples). TWF &amp; RNF have very few positive test cases (≤9), making recall 0% despite model detecting some in training. Multilabel Optuna best F1-micro = 0.8863.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g395fdd4760d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0220"/>
            <a:ext cx="8839199" cy="20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5fdd4760d_0_101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95fdd4760d_0_101"/>
          <p:cNvSpPr/>
          <p:nvPr/>
        </p:nvSpPr>
        <p:spPr>
          <a:xfrm>
            <a:off x="0" y="502920"/>
            <a:ext cx="9144000" cy="549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95fdd4760d_0_101"/>
          <p:cNvSpPr/>
          <p:nvPr/>
        </p:nvSpPr>
        <p:spPr>
          <a:xfrm>
            <a:off x="365760" y="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B  ·  RFC_Single - 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and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parameters used post tuning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95fdd4760d_0_101"/>
          <p:cNvSpPr/>
          <p:nvPr/>
        </p:nvSpPr>
        <p:spPr>
          <a:xfrm>
            <a:off x="320040" y="4828032"/>
            <a:ext cx="850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Test set results (20% split, 2000 samples). TWF &amp; RNF have very few positive test cases (≤9), making recall 0% despite model detecting some in training. Multilabel Optuna best F1-micro = 0.8863.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g395fdd4760d_0_101"/>
          <p:cNvPicPr preferRelativeResize="0"/>
          <p:nvPr/>
        </p:nvPicPr>
        <p:blipFill rotWithShape="1">
          <a:blip r:embed="rId3">
            <a:alphaModFix/>
          </a:blip>
          <a:srcRect b="0" l="8454" r="8087" t="13412"/>
          <a:stretch/>
        </p:blipFill>
        <p:spPr>
          <a:xfrm>
            <a:off x="5688650" y="671963"/>
            <a:ext cx="2241586" cy="398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g395fdd4760d_0_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50" y="820802"/>
            <a:ext cx="4294600" cy="33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C  ·  Cross-Validation Strategy &amp; Leakage Prevention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Stratified 5-Fold Cross-Validation with Oversampling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320040" y="105156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Fold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1005840" y="1051560"/>
            <a:ext cx="941832" cy="457200"/>
          </a:xfrm>
          <a:prstGeom prst="rect">
            <a:avLst/>
          </a:prstGeom>
          <a:solidFill>
            <a:srgbClr val="F59E0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1005840" y="105156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2011680" y="105156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2011680" y="105156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3017520" y="105156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3017520" y="105156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4023360" y="105156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4023360" y="105156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5029200" y="105156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5029200" y="105156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320040" y="164592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Fold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1005840" y="164592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1005840" y="164592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2011680" y="1645920"/>
            <a:ext cx="941832" cy="457200"/>
          </a:xfrm>
          <a:prstGeom prst="rect">
            <a:avLst/>
          </a:prstGeom>
          <a:solidFill>
            <a:srgbClr val="F59E0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2011680" y="164592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3017520" y="164592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3017520" y="164592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4023360" y="164592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4023360" y="164592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5029200" y="164592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5029200" y="164592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320040" y="224028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Fold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1005840" y="224028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1005840" y="224028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2011680" y="224028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2011680" y="224028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3017520" y="2240280"/>
            <a:ext cx="941832" cy="457200"/>
          </a:xfrm>
          <a:prstGeom prst="rect">
            <a:avLst/>
          </a:prstGeom>
          <a:solidFill>
            <a:srgbClr val="F59E0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3017520" y="224028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4023360" y="224028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4023360" y="224028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5029200" y="224028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5029200" y="224028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320040" y="28346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Fold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1005840" y="283464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1005840" y="283464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2011680" y="283464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2011680" y="283464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3017520" y="283464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3017520" y="283464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023360" y="2834640"/>
            <a:ext cx="941832" cy="457200"/>
          </a:xfrm>
          <a:prstGeom prst="rect">
            <a:avLst/>
          </a:prstGeom>
          <a:solidFill>
            <a:srgbClr val="F59E0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4023360" y="283464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5029200" y="283464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5029200" y="283464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320040" y="34290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Fold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1005840" y="342900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1005840" y="342900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2011680" y="342900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2011680" y="342900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3017520" y="342900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3017520" y="342900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023360" y="3429000"/>
            <a:ext cx="941832" cy="457200"/>
          </a:xfrm>
          <a:prstGeom prst="rect">
            <a:avLst/>
          </a:prstGeom>
          <a:solidFill>
            <a:srgbClr val="14B8A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4023360" y="342900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Train+OS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5029200" y="3429000"/>
            <a:ext cx="941832" cy="457200"/>
          </a:xfrm>
          <a:prstGeom prst="rect">
            <a:avLst/>
          </a:prstGeom>
          <a:solidFill>
            <a:srgbClr val="F59E0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5029200" y="3429000"/>
            <a:ext cx="941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1005840" y="4206240"/>
            <a:ext cx="25603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1325880" y="418795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Training + Oversampling (inside fold)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4480560" y="4206240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4800600" y="418795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Validation (original distribution)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6126480" y="1005840"/>
            <a:ext cx="2697480" cy="3063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6126480" y="1005840"/>
            <a:ext cx="26974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6217920" y="1115568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6217920" y="150876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Applying oversampling before CV splits allows synthetic samples from the training set to appear in validation — inflating performance.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6217920" y="274320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Using imblearn Pipeline ensures the oversampler sees only each fold's training split, giving honest estimates.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2026-03-13T18:42:59Z</dcterms:created>
  <dc:creator>Danilo</dc:creator>
</cp:coreProperties>
</file>